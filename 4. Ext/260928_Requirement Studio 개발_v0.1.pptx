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11"/>
  </p:notesMasterIdLst>
  <p:sldIdLst>
    <p:sldId id="355" r:id="rId2"/>
    <p:sldId id="353" r:id="rId3"/>
    <p:sldId id="357" r:id="rId4"/>
    <p:sldId id="358" r:id="rId5"/>
    <p:sldId id="342" r:id="rId6"/>
    <p:sldId id="359" r:id="rId7"/>
    <p:sldId id="360" r:id="rId8"/>
    <p:sldId id="361" r:id="rId9"/>
    <p:sldId id="350" r:id="rId10"/>
  </p:sldIdLst>
  <p:sldSz cx="9144000" cy="6858000" type="screen4x3"/>
  <p:notesSz cx="6858000" cy="9144000"/>
  <p:embeddedFontLst>
    <p:embeddedFont>
      <p:font typeface="나눔스퀘어 네오 OTF Bold" panose="020B0600000101010101" charset="-127"/>
      <p:bold r:id="rId12"/>
    </p:embeddedFont>
    <p:embeddedFont>
      <p:font typeface="나눔스퀘어 네오 OTF ExtraBold" panose="020B0600000101010101" charset="-127"/>
      <p:bold r:id="rId13"/>
    </p:embeddedFont>
    <p:embeddedFont>
      <p:font typeface="나눔스퀘어 네오 OTF Heavy" panose="020B0600000101010101" charset="-127"/>
      <p:bold r:id="rId14"/>
    </p:embeddedFont>
    <p:embeddedFont>
      <p:font typeface="나눔스퀘어 네오 OTF Light" panose="020B0600000101010101" charset="-127"/>
      <p:regular r:id="rId15"/>
    </p:embeddedFont>
    <p:embeddedFont>
      <p:font typeface="나눔스퀘어 네오 OTF Regular" panose="020B0600000101010101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가이드" id="{D8CF1E72-B40E-4BA4-896A-9349C0125D74}">
          <p14:sldIdLst>
            <p14:sldId id="355"/>
            <p14:sldId id="353"/>
            <p14:sldId id="357"/>
            <p14:sldId id="358"/>
            <p14:sldId id="342"/>
            <p14:sldId id="359"/>
            <p14:sldId id="360"/>
            <p14:sldId id="361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226" userDrawn="1">
          <p15:clr>
            <a:srgbClr val="A4A3A4"/>
          </p15:clr>
        </p15:guide>
        <p15:guide id="3" pos="5534" userDrawn="1">
          <p15:clr>
            <a:srgbClr val="A4A3A4"/>
          </p15:clr>
        </p15:guide>
        <p15:guide id="5" orient="horz" pos="4088" userDrawn="1">
          <p15:clr>
            <a:srgbClr val="A4A3A4"/>
          </p15:clr>
        </p15:guide>
        <p15:guide id="7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A0FF"/>
    <a:srgbClr val="CFDBF5"/>
    <a:srgbClr val="C3D2F3"/>
    <a:srgbClr val="002878"/>
    <a:srgbClr val="ECECEC"/>
    <a:srgbClr val="D2D7E6"/>
    <a:srgbClr val="EDEFF7"/>
    <a:srgbClr val="D8E5FF"/>
    <a:srgbClr val="F0F0F2"/>
    <a:srgbClr val="EFE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76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" y="198"/>
      </p:cViewPr>
      <p:guideLst>
        <p:guide orient="horz" pos="618"/>
        <p:guide pos="226"/>
        <p:guide pos="5534"/>
        <p:guide orient="horz" pos="4088"/>
        <p:guide orient="horz" pos="399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1B31C-AD2F-41A0-915B-86354A8E886A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250BC-2621-40F6-AB4C-FA65842E8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11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736E-ABE9-1D94-CC20-AA3D9496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4CE44-1537-5FC5-EB4D-F8F6AE8F0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9F9F1E-62ED-CB89-BD68-EE295C604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A1412-3413-C5F3-D52A-C7315D8AD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3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868541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DCA1-796F-F65D-2CD6-A208B2A1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730113-E80B-5D34-2221-BC02C80F9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D16BA2-93F3-F4DB-4514-2456F30F8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441A36-1A7C-A72B-1DF0-D793E94E3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4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061970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FE2C-EAF7-91D0-5F2D-38E566F2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9D3607-979E-AAF1-B892-1FE06CFBC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2EA710-2F16-6D99-A1CF-B3F49113E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CAF7E-8F38-DD32-9D6F-E31CA15E8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5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816210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011A-06F6-68F9-3221-01E58FD1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440B34-644C-8B92-B818-645A92402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4D87E5-55A9-12E2-824B-CF72E2695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A1690-4832-509D-6B90-77CA795F3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6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4770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E9B2-4E8F-86A3-ABFA-2BCDFD63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35E012-2552-746A-2432-88994C628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A5F5C5-7B9E-7629-F8CD-6F7E4A4BA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2F11A8-BAD2-B07C-701E-746E1D08B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7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4127419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05AC-0E36-296B-7CEA-A0E264EF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2F5969-783A-FA14-795C-501DF2655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01AD56-1B8F-7197-02FC-C5F89DB4C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94069E-C087-4576-9D93-EB55AD2FD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8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76120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회사소개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DB5D08C-E48C-33C0-A5BA-BC4E9AF4A02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14D345-D555-88F0-06BF-4E492E2445C0}"/>
              </a:ext>
            </a:extLst>
          </p:cNvPr>
          <p:cNvSpPr txBox="1"/>
          <p:nvPr userDrawn="1"/>
        </p:nvSpPr>
        <p:spPr>
          <a:xfrm>
            <a:off x="3498629" y="589079"/>
            <a:ext cx="21467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200" dirty="0">
              <a:solidFill>
                <a:schemeClr val="tx2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09B5B-ADA0-CFD7-4AA6-5C75669BB7A5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chemeClr val="bg1">
                    <a:alpha val="6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lang="ko-KR" altLang="en-US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lang="ko-KR" altLang="en-US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lang="en-US" altLang="en-US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0" b="0" i="0" spc="-30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ⓒ 2026. </a:t>
            </a:r>
            <a:r>
              <a:rPr lang="en-US" altLang="x-none" sz="950" b="0" i="0" spc="-30" baseline="0" dirty="0" err="1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Suresofttech</a:t>
            </a:r>
            <a:r>
              <a:rPr lang="en-US" altLang="x-none" sz="950" b="0" i="0" spc="-30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 Inc. All rights reserved.</a:t>
            </a:r>
            <a:endParaRPr lang="x-none" altLang="en-US" sz="950" b="0" i="0" spc="-30" baseline="0" dirty="0"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E16F30B-7B23-5E67-2F65-ACE294D3C0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799" y="2928572"/>
            <a:ext cx="2692402" cy="2760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FFE917F-F11C-4666-F5C4-660B12F92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2381" y="3338941"/>
            <a:ext cx="6359238" cy="315343"/>
          </a:xfrm>
          <a:noFill/>
        </p:spPr>
        <p:txBody>
          <a:bodyPr wrap="square" rtlCol="0">
            <a:spAutoFit/>
          </a:bodyPr>
          <a:lstStyle>
            <a:lvl1pPr algn="ctr">
              <a:defRPr lang="en-US" sz="1600" spc="-70" dirty="0">
                <a:cs typeface="+mn-cs"/>
              </a:defRPr>
            </a:lvl1pPr>
          </a:lstStyle>
          <a:p>
            <a:pPr marL="0" lvl="0" algn="ctr" defTabSz="457200" latinLnBrk="0"/>
            <a:r>
              <a:rPr lang="ko-KR" altLang="en-US" dirty="0"/>
              <a:t>마스터 제목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1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64199"/>
            <a:ext cx="7772400" cy="454740"/>
          </a:xfrm>
        </p:spPr>
        <p:txBody>
          <a:bodyPr anchor="b">
            <a:spAutoFit/>
          </a:bodyPr>
          <a:lstStyle>
            <a:lvl1pPr algn="ctr">
              <a:defRPr sz="2600" spc="-1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제목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347531"/>
            <a:ext cx="6858000" cy="3707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600" spc="-70" baseline="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581186" y="673222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dirty="0"/>
              <a:t>ⓒ 2026. </a:t>
            </a:r>
            <a:r>
              <a:rPr lang="en-US" altLang="x-none" dirty="0" err="1"/>
              <a:t>Suresofttech</a:t>
            </a:r>
            <a:r>
              <a:rPr lang="en-US" altLang="x-none" dirty="0"/>
              <a:t> Inc. All rights reserved.</a:t>
            </a:r>
            <a:endParaRPr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56802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_제목2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633939"/>
            <a:ext cx="7772400" cy="822148"/>
          </a:xfrm>
        </p:spPr>
        <p:txBody>
          <a:bodyPr anchor="b">
            <a:spAutoFit/>
          </a:bodyPr>
          <a:lstStyle>
            <a:lvl1pPr algn="ctr">
              <a:lnSpc>
                <a:spcPct val="110000"/>
              </a:lnSpc>
              <a:defRPr sz="2200" spc="-1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제목이 한 줄을 넘어가는 문서의 경우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해당 표지를 사용하세요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84679"/>
            <a:ext cx="6858000" cy="3707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600" spc="-70" baseline="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581186" y="673222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dirty="0"/>
              <a:t>ⓒ 2026. </a:t>
            </a:r>
            <a:r>
              <a:rPr lang="en-US" altLang="x-none" dirty="0" err="1"/>
              <a:t>Suresofttech</a:t>
            </a:r>
            <a:r>
              <a:rPr lang="en-US" altLang="x-none" dirty="0"/>
              <a:t> Inc. All rights reserved.</a:t>
            </a:r>
            <a:endParaRPr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58109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214" y="5055562"/>
            <a:ext cx="2254132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5113" y="5055562"/>
            <a:ext cx="2253021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F994BDC7-3A8A-2686-D267-71EDEA714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12" y="5055562"/>
            <a:ext cx="2254132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4003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96BF0D5-DBB2-3C80-ECAB-B9AFA42465B6}"/>
              </a:ext>
            </a:extLst>
          </p:cNvPr>
          <p:cNvCxnSpPr>
            <a:cxnSpLocks/>
          </p:cNvCxnSpPr>
          <p:nvPr userDrawn="1"/>
        </p:nvCxnSpPr>
        <p:spPr>
          <a:xfrm>
            <a:off x="639344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3568135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6353346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6DF1567-E253-5219-A47B-D5962357E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211" y="4607118"/>
            <a:ext cx="2254131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214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904314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214" y="5055562"/>
            <a:ext cx="2254132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5113" y="5055562"/>
            <a:ext cx="2253021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4003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3568135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6353346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214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E9924A-76C7-483D-B875-A15098FBB4C0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E5898F9-800B-429D-AFD2-3FCBC058C605}"/>
              </a:ext>
            </a:extLst>
          </p:cNvPr>
          <p:cNvSpPr/>
          <p:nvPr userDrawn="1"/>
        </p:nvSpPr>
        <p:spPr>
          <a:xfrm>
            <a:off x="866428" y="5249005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450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7101" y="4695915"/>
            <a:ext cx="2194675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4230" y="4695915"/>
            <a:ext cx="442153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21" name="텍스트 개체 틀 22">
            <a:extLst>
              <a:ext uri="{FF2B5EF4-FFF2-40B4-BE49-F238E27FC236}">
                <a16:creationId xmlns:a16="http://schemas.microsoft.com/office/drawing/2014/main" id="{F2E15DB0-7F08-4AFA-56CB-768A62EBB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75643" y="4210428"/>
            <a:ext cx="308074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866428" y="5249005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55F8BD5-F554-4428-961E-235506ECA476}"/>
              </a:ext>
            </a:extLst>
          </p:cNvPr>
          <p:cNvCxnSpPr/>
          <p:nvPr userDrawn="1"/>
        </p:nvCxnSpPr>
        <p:spPr>
          <a:xfrm>
            <a:off x="5278967" y="4569753"/>
            <a:ext cx="288555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270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_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7101" y="4695915"/>
            <a:ext cx="2194675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4230" y="4695915"/>
            <a:ext cx="442153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866428" y="5249005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995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E54452-7FD0-657A-1F2D-D297E442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375" y="6492875"/>
            <a:ext cx="423333" cy="365125"/>
          </a:xfrm>
        </p:spPr>
        <p:txBody>
          <a:bodyPr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69D232EE-31E2-C8ED-C6A7-F27960CBA96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59" t="-19957" r="2368" b="10975"/>
          <a:stretch/>
        </p:blipFill>
        <p:spPr>
          <a:xfrm>
            <a:off x="0" y="1439924"/>
            <a:ext cx="9144000" cy="5418076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4B5D0A1-D498-0F76-F8D5-E764FDDA3A81}"/>
              </a:ext>
            </a:extLst>
          </p:cNvPr>
          <p:cNvSpPr/>
          <p:nvPr userDrawn="1"/>
        </p:nvSpPr>
        <p:spPr>
          <a:xfrm>
            <a:off x="1540042" y="3353402"/>
            <a:ext cx="199724" cy="19972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AB9024-B0A9-7454-3A53-F627B35A5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069065"/>
            <a:ext cx="7886700" cy="371127"/>
          </a:xfrm>
        </p:spPr>
        <p:txBody>
          <a:bodyPr anchor="b">
            <a:spAutoFit/>
          </a:bodyPr>
          <a:lstStyle>
            <a:lvl1pPr algn="ctr">
              <a:defRPr lang="ko-KR" altLang="en-US" sz="2000" spc="-100" baseline="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pPr marL="0" lvl="0" algn="ctr"/>
            <a:r>
              <a:rPr lang="ko-KR" altLang="en-US" dirty="0"/>
              <a:t>간지 내용을 입력하세요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6B12FA-6F28-714D-9019-455ABEE11D96}"/>
              </a:ext>
            </a:extLst>
          </p:cNvPr>
          <p:cNvSpPr/>
          <p:nvPr userDrawn="1"/>
        </p:nvSpPr>
        <p:spPr>
          <a:xfrm>
            <a:off x="6813081" y="4567254"/>
            <a:ext cx="316029" cy="316029"/>
          </a:xfrm>
          <a:prstGeom prst="ellipse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F6002C5-8F47-526E-33DD-1B6646248FC0}"/>
              </a:ext>
            </a:extLst>
          </p:cNvPr>
          <p:cNvSpPr/>
          <p:nvPr userDrawn="1"/>
        </p:nvSpPr>
        <p:spPr>
          <a:xfrm>
            <a:off x="835793" y="5270700"/>
            <a:ext cx="95450" cy="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F48A56-5D8E-201E-CF21-74EE5D3C4E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480" y="2850741"/>
            <a:ext cx="955040" cy="9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2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89275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gray"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943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184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6472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2" y="0"/>
            <a:ext cx="2682149" cy="68580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584296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AFE2F2D2-F49B-9B7D-4BFE-109C1FEB8753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554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2" y="0"/>
            <a:ext cx="26821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584296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51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2" y="0"/>
            <a:ext cx="2682149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584296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84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C9DEE1-FF56-A4E9-3801-60197FD2AFBA}"/>
              </a:ext>
            </a:extLst>
          </p:cNvPr>
          <p:cNvSpPr/>
          <p:nvPr userDrawn="1"/>
        </p:nvSpPr>
        <p:spPr>
          <a:xfrm>
            <a:off x="0" y="4734561"/>
            <a:ext cx="9144001" cy="2123438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588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0" y="4734561"/>
            <a:ext cx="9144001" cy="21234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789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0" y="4734561"/>
            <a:ext cx="9144001" cy="212343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11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79" y="833119"/>
            <a:ext cx="2941321" cy="5485875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57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79" y="833119"/>
            <a:ext cx="2941321" cy="54858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224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79" y="833119"/>
            <a:ext cx="2941321" cy="54858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225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7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581186" y="673222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dirty="0"/>
              <a:t>ⓒ 2026. </a:t>
            </a:r>
            <a:r>
              <a:rPr lang="en-US" altLang="x-none" dirty="0" err="1"/>
              <a:t>Suresofttech</a:t>
            </a:r>
            <a:r>
              <a:rPr lang="en-US" altLang="x-none" dirty="0"/>
              <a:t> Inc. All rights reserved.</a:t>
            </a:r>
            <a:endParaRPr lang="x-none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F1A4F-62F5-46A4-8EF0-D406C19CB50E}"/>
              </a:ext>
            </a:extLst>
          </p:cNvPr>
          <p:cNvSpPr txBox="1"/>
          <p:nvPr userDrawn="1"/>
        </p:nvSpPr>
        <p:spPr>
          <a:xfrm>
            <a:off x="3324703" y="2799483"/>
            <a:ext cx="2494594" cy="649152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878"/>
                </a:solidFill>
                <a:effectLst/>
                <a:uLnTx/>
                <a:uFillTx/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+mj-cs"/>
              </a:rPr>
              <a:t>Thank You</a:t>
            </a:r>
            <a:endParaRPr lang="ko-KR" altLang="en-US" sz="3200" dirty="0">
              <a:solidFill>
                <a:srgbClr val="002878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8495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제목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날짜 개체 틀 13">
            <a:extLst>
              <a:ext uri="{FF2B5EF4-FFF2-40B4-BE49-F238E27FC236}">
                <a16:creationId xmlns:a16="http://schemas.microsoft.com/office/drawing/2014/main" id="{03FFA564-52AC-B048-8306-BBE33A84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4E54E667-CCE4-B248-A865-D740AF1C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31EE639-32F2-F448-A10F-42C83F548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4000" y="304604"/>
            <a:ext cx="342000" cy="201145"/>
          </a:xfrm>
          <a:prstGeom prst="rect">
            <a:avLst/>
          </a:prstGeom>
        </p:spPr>
        <p:txBody>
          <a:bodyPr vert="horz" lIns="0" tIns="0" rIns="0" bIns="46800" rtlCol="0" anchor="ctr">
            <a:spAutoFit/>
          </a:bodyPr>
          <a:lstStyle>
            <a:lvl1pPr algn="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OTF Regular" panose="00000500000000000000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9900B02E-8AB5-43FE-AC7E-4FB227A4939C}" type="slidenum">
              <a:rPr lang="en-US" altLang="ko-KR" smtClean="0"/>
              <a:pPr/>
              <a:t>‹#›</a:t>
            </a:fld>
            <a:endParaRPr lang="en-US" dirty="0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FF3EFFCF-8EA0-DA4B-8D39-C44C0ACB3D85}"/>
              </a:ext>
            </a:extLst>
          </p:cNvPr>
          <p:cNvCxnSpPr>
            <a:cxnSpLocks/>
          </p:cNvCxnSpPr>
          <p:nvPr/>
        </p:nvCxnSpPr>
        <p:spPr>
          <a:xfrm>
            <a:off x="360000" y="560950"/>
            <a:ext cx="8424000" cy="0"/>
          </a:xfrm>
          <a:prstGeom prst="line">
            <a:avLst/>
          </a:prstGeom>
          <a:ln>
            <a:solidFill>
              <a:srgbClr val="C1C8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개체 틀 12">
            <a:extLst>
              <a:ext uri="{FF2B5EF4-FFF2-40B4-BE49-F238E27FC236}">
                <a16:creationId xmlns:a16="http://schemas.microsoft.com/office/drawing/2014/main" id="{A6176F38-10E2-AA4F-BEBA-880BAF51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191890"/>
            <a:ext cx="7886700" cy="313859"/>
          </a:xfrm>
          <a:prstGeom prst="rect">
            <a:avLst/>
          </a:prstGeom>
        </p:spPr>
        <p:txBody>
          <a:bodyPr vert="horz" lIns="18000" tIns="72000" rIns="91440" bIns="46800" rtlCol="0" anchor="ctr">
            <a:spAutoFit/>
          </a:bodyPr>
          <a:lstStyle/>
          <a:p>
            <a:r>
              <a:rPr kumimoji="1" lang="ko-KR" altLang="en-US"/>
              <a:t>마스터 제목 스타일 편집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2376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3351" y="214854"/>
            <a:ext cx="7886700" cy="25962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350" y="799003"/>
            <a:ext cx="8591249" cy="143398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3351" y="6492874"/>
            <a:ext cx="24126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49287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8103" y="649287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700" smtClean="0"/>
            </a:lvl1pPr>
          </a:lstStyle>
          <a:p>
            <a:pPr algn="r"/>
            <a:fld id="{5BCDA562-D163-4743-A5E0-EF338EDE3E78}" type="slidenum">
              <a:rPr lang="en-US" altLang="ko-KR" smtClean="0"/>
              <a:pPr algn="r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97564-E74C-0685-2346-8933404D1E1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092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72990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75" r:id="rId4"/>
    <p:sldLayoutId id="2147483697" r:id="rId5"/>
    <p:sldLayoutId id="2147483676" r:id="rId6"/>
    <p:sldLayoutId id="2147483698" r:id="rId7"/>
    <p:sldLayoutId id="2147483677" r:id="rId8"/>
    <p:sldLayoutId id="2147483681" r:id="rId9"/>
    <p:sldLayoutId id="2147483682" r:id="rId10"/>
    <p:sldLayoutId id="2147483683" r:id="rId11"/>
    <p:sldLayoutId id="2147483693" r:id="rId12"/>
    <p:sldLayoutId id="2147483686" r:id="rId13"/>
    <p:sldLayoutId id="2147483684" r:id="rId14"/>
    <p:sldLayoutId id="2147483694" r:id="rId15"/>
    <p:sldLayoutId id="2147483687" r:id="rId16"/>
    <p:sldLayoutId id="2147483688" r:id="rId17"/>
    <p:sldLayoutId id="2147483695" r:id="rId18"/>
    <p:sldLayoutId id="2147483690" r:id="rId19"/>
    <p:sldLayoutId id="2147483689" r:id="rId20"/>
    <p:sldLayoutId id="2147483696" r:id="rId21"/>
    <p:sldLayoutId id="2147483667" r:id="rId22"/>
    <p:sldLayoutId id="2147483691" r:id="rId23"/>
    <p:sldLayoutId id="2147483692" r:id="rId2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1200" kern="1200" dirty="0">
          <a:solidFill>
            <a:schemeClr val="tx2">
              <a:lumMod val="50000"/>
            </a:schemeClr>
          </a:solidFill>
          <a:latin typeface="나눔스퀘어 네오 OTF ExtraBold" panose="00000900000000000000" pitchFamily="50" charset="-127"/>
          <a:ea typeface="나눔스퀘어 네오 OTF ExtraBold" panose="00000900000000000000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20000"/>
        </a:lnSpc>
        <a:spcBef>
          <a:spcPts val="300"/>
        </a:spcBef>
        <a:spcAft>
          <a:spcPts val="300"/>
        </a:spcAft>
        <a:buFontTx/>
        <a:buNone/>
        <a:defRPr sz="1400" kern="1200">
          <a:solidFill>
            <a:schemeClr val="tx1"/>
          </a:solidFill>
          <a:latin typeface="나눔스퀘어 네오 OTF ExtraBold" panose="00000900000000000000" pitchFamily="50" charset="-127"/>
          <a:ea typeface="나눔스퀘어 네오 OTF ExtraBold" panose="00000900000000000000" pitchFamily="50" charset="-127"/>
          <a:cs typeface="+mn-cs"/>
        </a:defRPr>
      </a:lvl1pPr>
      <a:lvl2pPr marL="144000" indent="-144000" algn="l" defTabSz="914400" rtl="0" eaLnBrk="1" latinLnBrk="1" hangingPunct="1">
        <a:lnSpc>
          <a:spcPct val="120000"/>
        </a:lnSpc>
        <a:spcBef>
          <a:spcPts val="600"/>
        </a:spcBef>
        <a:spcAft>
          <a:spcPts val="4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88000" indent="-108000" algn="l" defTabSz="914400" rtl="0" eaLnBrk="1" latinLnBrk="1" hangingPunct="1">
        <a:lnSpc>
          <a:spcPct val="11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나눔스퀘어 네오 OTF Bold" panose="00000800000000000000" pitchFamily="50" charset="-127"/>
          <a:ea typeface="나눔스퀘어 네오 OTF Bold" panose="00000800000000000000" pitchFamily="50" charset="-127"/>
          <a:cs typeface="+mn-cs"/>
        </a:defRPr>
      </a:lvl3pPr>
      <a:lvl4pPr marL="432000" indent="-108000" algn="l" defTabSz="914400" rtl="0" eaLnBrk="1" latinLnBrk="1" hangingPunct="1">
        <a:lnSpc>
          <a:spcPct val="110000"/>
        </a:lnSpc>
        <a:spcBef>
          <a:spcPts val="200"/>
        </a:spcBef>
        <a:spcAft>
          <a:spcPts val="200"/>
        </a:spcAft>
        <a:buFont typeface="나눔스퀘어 네오 OTF Regular" panose="00000500000000000000" pitchFamily="50" charset="-127"/>
        <a:buChar char="-"/>
        <a:defRPr sz="1000" kern="1200">
          <a:solidFill>
            <a:schemeClr val="tx1"/>
          </a:solidFill>
          <a:latin typeface="나눔스퀘어 네오 OTF Regular" panose="00000500000000000000" pitchFamily="50" charset="-127"/>
          <a:ea typeface="나눔스퀘어 네오 OTF Regular" panose="00000500000000000000" pitchFamily="50" charset="-127"/>
          <a:cs typeface="+mn-cs"/>
        </a:defRPr>
      </a:lvl4pPr>
      <a:lvl5pPr marL="504000" indent="-108000" algn="l" defTabSz="914400" rtl="0" eaLnBrk="1" latinLnBrk="1" hangingPunct="1">
        <a:lnSpc>
          <a:spcPct val="100000"/>
        </a:lnSpc>
        <a:spcBef>
          <a:spcPts val="300"/>
        </a:spcBef>
        <a:spcAft>
          <a:spcPts val="200"/>
        </a:spcAft>
        <a:buFont typeface="나눔스퀘어 네오 OTF Bold" panose="00000800000000000000" pitchFamily="50" charset="-127"/>
        <a:buChar char="＊"/>
        <a:defRPr sz="900" kern="1200">
          <a:solidFill>
            <a:schemeClr val="tx1"/>
          </a:solidFill>
          <a:latin typeface="나눔스퀘어 네오 OTF Light" panose="00000400000000000000" pitchFamily="50" charset="-127"/>
          <a:ea typeface="나눔스퀘어 네오 OTF Light" panose="000004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60330-B83D-4E26-B227-668B9AB1F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43498"/>
            <a:ext cx="7772400" cy="675441"/>
          </a:xfrm>
        </p:spPr>
        <p:txBody>
          <a:bodyPr/>
          <a:lstStyle/>
          <a:p>
            <a:r>
              <a:rPr lang="ko-KR" altLang="en-US" dirty="0"/>
              <a:t>요구사항 추출 기능 개발</a:t>
            </a:r>
            <a:br>
              <a:rPr lang="en-US" altLang="ko-KR" dirty="0"/>
            </a:br>
            <a:r>
              <a:rPr lang="en-US" altLang="ko-KR" sz="1600" dirty="0"/>
              <a:t>(Requirement Studio)</a:t>
            </a:r>
            <a:endParaRPr lang="ko-KR" altLang="en-US" sz="1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07A0BB-5708-4E89-9501-D5F9837090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슈어소프트테크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244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1E760CC-1FAA-4F51-B9D5-23BA40C05E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7101" y="4695915"/>
            <a:ext cx="2194675" cy="2003818"/>
          </a:xfrm>
        </p:spPr>
        <p:txBody>
          <a:bodyPr/>
          <a:lstStyle/>
          <a:p>
            <a:r>
              <a:rPr lang="ko-KR" altLang="en-US" dirty="0"/>
              <a:t>개요 </a:t>
            </a:r>
            <a:endParaRPr lang="en-US" altLang="ko-KR" dirty="0"/>
          </a:p>
          <a:p>
            <a:r>
              <a:rPr lang="ko-KR" altLang="en-US" dirty="0"/>
              <a:t>정의 및 구조 요약</a:t>
            </a:r>
            <a:endParaRPr lang="en-US" altLang="ko-KR" dirty="0"/>
          </a:p>
          <a:p>
            <a:r>
              <a:rPr lang="ko-KR" altLang="en-US" dirty="0"/>
              <a:t>주요 </a:t>
            </a:r>
            <a:r>
              <a:rPr lang="en-US" altLang="ko-KR" dirty="0"/>
              <a:t>GUI</a:t>
            </a:r>
          </a:p>
          <a:p>
            <a:r>
              <a:rPr lang="ko-KR" altLang="en-US" dirty="0"/>
              <a:t>향후 일정</a:t>
            </a:r>
            <a:endParaRPr lang="en-US" altLang="ko-KR" dirty="0"/>
          </a:p>
          <a:p>
            <a:r>
              <a:rPr lang="ko-KR" altLang="en-US" dirty="0"/>
              <a:t>향후 계획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0C691E-6153-4B96-AC51-946F9E8B26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4230" y="4695915"/>
            <a:ext cx="442153" cy="1433726"/>
          </a:xfrm>
        </p:spPr>
        <p:txBody>
          <a:bodyPr/>
          <a:lstStyle/>
          <a:p>
            <a:r>
              <a:rPr lang="en-US" altLang="ko-KR" dirty="0"/>
              <a:t>3p</a:t>
            </a:r>
          </a:p>
          <a:p>
            <a:r>
              <a:rPr lang="en-US" altLang="ko-KR" dirty="0"/>
              <a:t>4p</a:t>
            </a:r>
          </a:p>
          <a:p>
            <a:r>
              <a:rPr lang="en-US" altLang="ko-KR" dirty="0"/>
              <a:t>5p</a:t>
            </a:r>
          </a:p>
          <a:p>
            <a:r>
              <a:rPr lang="en-US" altLang="ko-KR" dirty="0"/>
              <a:t>7p</a:t>
            </a:r>
          </a:p>
          <a:p>
            <a:r>
              <a:rPr lang="en-US" altLang="ko-KR" dirty="0"/>
              <a:t>8p</a:t>
            </a:r>
          </a:p>
        </p:txBody>
      </p:sp>
    </p:spTree>
    <p:extLst>
      <p:ext uri="{BB962C8B-B14F-4D97-AF65-F5344CB8AC3E}">
        <p14:creationId xmlns:p14="http://schemas.microsoft.com/office/powerpoint/2010/main" val="105974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E195A-6301-ED2A-1D11-BACF5B89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F2FE0-8B12-01C8-F82F-1FA48051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개요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A23801B-1321-92EE-2D0D-FB088BAD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BEF4-35F7-054D-BCC4-3F145CEF9DF2}" type="slidenum">
              <a:rPr kumimoji="1" lang="x-none" altLang="en-US" smtClean="0"/>
              <a:t>3</a:t>
            </a:fld>
            <a:endParaRPr kumimoji="1" lang="x-none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5070A-AA0F-F0EB-62DF-7A9A2AF5DCCE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1011815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개발 배경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CFB917-C0A4-8242-FA2F-0BD4719CCE28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B12C6D-ED93-F658-8CA8-1969952B2C57}"/>
              </a:ext>
            </a:extLst>
          </p:cNvPr>
          <p:cNvSpPr txBox="1">
            <a:spLocks noChangeAspect="1"/>
          </p:cNvSpPr>
          <p:nvPr/>
        </p:nvSpPr>
        <p:spPr>
          <a:xfrm>
            <a:off x="439574" y="3411416"/>
            <a:ext cx="1063112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기대 효과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44EF00-DACA-52CC-A89C-972D5F0FE4B3}"/>
              </a:ext>
            </a:extLst>
          </p:cNvPr>
          <p:cNvSpPr/>
          <p:nvPr/>
        </p:nvSpPr>
        <p:spPr>
          <a:xfrm>
            <a:off x="397603" y="3481693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5C5C802-CB69-D069-5F11-CEDA52ADEBFE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5F117BB5-4A0F-B7B5-4E02-07D32CEF7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77" y="4212724"/>
            <a:ext cx="8389329" cy="125657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678DCBE-12F3-F9DD-4F4B-788C10BC90FC}"/>
              </a:ext>
            </a:extLst>
          </p:cNvPr>
          <p:cNvSpPr txBox="1"/>
          <p:nvPr/>
        </p:nvSpPr>
        <p:spPr>
          <a:xfrm>
            <a:off x="438663" y="1119145"/>
            <a:ext cx="8265828" cy="671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 marL="138222" indent="-138222">
              <a:buFontTx/>
              <a:buChar char="-"/>
            </a:pPr>
            <a:r>
              <a:rPr lang="ko-KR" altLang="ko-KR" sz="1400" dirty="0"/>
              <a:t>기존 문서 기반 요구사항 </a:t>
            </a:r>
            <a:r>
              <a:rPr lang="ko-KR" altLang="ko-KR" sz="1400" dirty="0" err="1"/>
              <a:t>분석·정리</a:t>
            </a:r>
            <a:r>
              <a:rPr lang="ko-KR" altLang="ko-KR" sz="1400" dirty="0"/>
              <a:t> 업무는 수작업 의존도가 높고, 담당자별 판단 편차 및 누락 가능성 존재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38222" indent="-138222">
              <a:buFontTx/>
              <a:buChar char="-"/>
            </a:pPr>
            <a:r>
              <a:rPr lang="ko-KR" altLang="en-US" sz="1400" dirty="0"/>
              <a:t>문서를 자동으로 분석하여</a:t>
            </a:r>
            <a:r>
              <a:rPr lang="en-US" altLang="ko-KR" sz="1400" dirty="0"/>
              <a:t>,</a:t>
            </a:r>
            <a:r>
              <a:rPr lang="ko-KR" altLang="ko-KR" sz="1400" dirty="0"/>
              <a:t> SWE.1 요구사항·SWE.6 테스트 명세까지 </a:t>
            </a:r>
            <a:r>
              <a:rPr lang="ko-KR" altLang="en-US" sz="1400" dirty="0"/>
              <a:t>자동으로 작성</a:t>
            </a:r>
            <a:r>
              <a:rPr lang="en-US" altLang="ko-KR" sz="1400" dirty="0"/>
              <a:t> </a:t>
            </a:r>
            <a:r>
              <a:rPr lang="ko-KR" altLang="en-US" sz="1400" dirty="0"/>
              <a:t>가능한 시스템 필요</a:t>
            </a:r>
            <a:endParaRPr lang="ko-KR" altLang="en-US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208E34-A680-731F-DA4B-040ADAC4E091}"/>
              </a:ext>
            </a:extLst>
          </p:cNvPr>
          <p:cNvSpPr txBox="1"/>
          <p:nvPr/>
        </p:nvSpPr>
        <p:spPr>
          <a:xfrm>
            <a:off x="438663" y="3814349"/>
            <a:ext cx="8265828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 marL="138222" indent="-138222">
              <a:buFontTx/>
              <a:buChar char="-"/>
            </a:pPr>
            <a:r>
              <a:rPr lang="ko-KR" altLang="ko-KR" sz="1400" dirty="0"/>
              <a:t>문서 분석부터 요구사항 </a:t>
            </a:r>
            <a:r>
              <a:rPr lang="ko-KR" altLang="ko-KR" sz="1400" dirty="0" err="1"/>
              <a:t>추출·테스트</a:t>
            </a:r>
            <a:r>
              <a:rPr lang="ko-KR" altLang="ko-KR" sz="1400" dirty="0"/>
              <a:t> 명세 작성까지 자동화하여 반복 업무 공수 절감 및 업무 생산성 향상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7D3722B-D80F-05FE-234E-4FFF837BB23F}"/>
              </a:ext>
            </a:extLst>
          </p:cNvPr>
          <p:cNvSpPr/>
          <p:nvPr/>
        </p:nvSpPr>
        <p:spPr>
          <a:xfrm>
            <a:off x="866898" y="5798366"/>
            <a:ext cx="7647709" cy="4720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문서 </a:t>
            </a:r>
            <a:r>
              <a:rPr lang="en-US" altLang="ko-KR" dirty="0"/>
              <a:t>+ LLM</a:t>
            </a:r>
            <a:r>
              <a:rPr lang="en-US" altLang="ko-KR" sz="1400" dirty="0"/>
              <a:t>(ALIRA or GPT </a:t>
            </a:r>
            <a:r>
              <a:rPr lang="ko-KR" altLang="en-US" sz="1400" dirty="0"/>
              <a:t>등</a:t>
            </a:r>
            <a:r>
              <a:rPr lang="en-US" altLang="ko-KR" sz="1400" dirty="0"/>
              <a:t>) </a:t>
            </a:r>
            <a:r>
              <a:rPr lang="ko-KR" altLang="en-US" dirty="0"/>
              <a:t>으로부터 요구사항 명세서를 도출하는 프로그램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94008E-650F-3101-27D9-BE459526D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41" y="1924693"/>
            <a:ext cx="8388000" cy="106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5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BC4E-0D41-5606-59FC-9BE76BF1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11">
            <a:extLst>
              <a:ext uri="{FF2B5EF4-FFF2-40B4-BE49-F238E27FC236}">
                <a16:creationId xmlns:a16="http://schemas.microsoft.com/office/drawing/2014/main" id="{8078FFB5-209B-339C-2291-B4DA670CC6B1}"/>
              </a:ext>
            </a:extLst>
          </p:cNvPr>
          <p:cNvSpPr/>
          <p:nvPr/>
        </p:nvSpPr>
        <p:spPr>
          <a:xfrm>
            <a:off x="610012" y="1139175"/>
            <a:ext cx="7923137" cy="822960"/>
          </a:xfrm>
          <a:prstGeom prst="roundRect">
            <a:avLst>
              <a:gd name="adj" fmla="val 8889"/>
            </a:avLst>
          </a:prstGeom>
          <a:solidFill>
            <a:srgbClr val="EEF7FF"/>
          </a:solidFill>
          <a:ln w="10160">
            <a:solidFill>
              <a:srgbClr val="D3E7FB"/>
            </a:solidFill>
            <a:prstDash val="solid"/>
          </a:ln>
        </p:spPr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21B5310-6011-059E-D679-CE77F42C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BEF4-35F7-054D-BCC4-3F145CEF9DF2}" type="slidenum">
              <a:rPr kumimoji="1" lang="x-none" altLang="en-US" smtClean="0"/>
              <a:t>4</a:t>
            </a:fld>
            <a:endParaRPr kumimoji="1" lang="x-none" altLang="en-US"/>
          </a:p>
        </p:txBody>
      </p:sp>
      <p:sp>
        <p:nvSpPr>
          <p:cNvPr id="111" name="제목 1">
            <a:extLst>
              <a:ext uri="{FF2B5EF4-FFF2-40B4-BE49-F238E27FC236}">
                <a16:creationId xmlns:a16="http://schemas.microsoft.com/office/drawing/2014/main" id="{1A8E4B54-06BA-D98E-D474-AEE7C886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51" y="214853"/>
            <a:ext cx="7183166" cy="259623"/>
          </a:xfrm>
        </p:spPr>
        <p:txBody>
          <a:bodyPr/>
          <a:lstStyle/>
          <a:p>
            <a:r>
              <a:rPr kumimoji="1" lang="ko-KR" altLang="en-US" b="1" dirty="0">
                <a:latin typeface="+mj-ea"/>
              </a:rPr>
              <a:t>정의 및 구조 요약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6FC291E-8055-7E3A-654F-AA7D530A33B0}"/>
              </a:ext>
            </a:extLst>
          </p:cNvPr>
          <p:cNvSpPr/>
          <p:nvPr/>
        </p:nvSpPr>
        <p:spPr>
          <a:xfrm>
            <a:off x="412180" y="967706"/>
            <a:ext cx="8318802" cy="250795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7E35C54-35B4-EEE4-8FA2-222C3B3EF76E}"/>
              </a:ext>
            </a:extLst>
          </p:cNvPr>
          <p:cNvGrpSpPr/>
          <p:nvPr/>
        </p:nvGrpSpPr>
        <p:grpSpPr>
          <a:xfrm>
            <a:off x="405866" y="749665"/>
            <a:ext cx="1734662" cy="307776"/>
            <a:chOff x="529927" y="1594487"/>
            <a:chExt cx="1200783" cy="307776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BB0FF5A-362C-51B9-D6CB-032ACB4D11B0}"/>
                </a:ext>
              </a:extLst>
            </p:cNvPr>
            <p:cNvSpPr/>
            <p:nvPr/>
          </p:nvSpPr>
          <p:spPr>
            <a:xfrm>
              <a:off x="529927" y="1594932"/>
              <a:ext cx="1080000" cy="307331"/>
            </a:xfrm>
            <a:prstGeom prst="rect">
              <a:avLst/>
            </a:prstGeom>
            <a:solidFill>
              <a:srgbClr val="244F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한 줄 정의 </a:t>
              </a:r>
              <a:r>
                <a:rPr lang="en-US" altLang="ko-KR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&amp;</a:t>
              </a:r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 기능</a:t>
              </a:r>
            </a:p>
          </p:txBody>
        </p:sp>
        <p:sp>
          <p:nvSpPr>
            <p:cNvPr id="55" name="직각 삼각형 54">
              <a:extLst>
                <a:ext uri="{FF2B5EF4-FFF2-40B4-BE49-F238E27FC236}">
                  <a16:creationId xmlns:a16="http://schemas.microsoft.com/office/drawing/2014/main" id="{51447878-3D4E-43EB-4735-9CC9861FAAE2}"/>
                </a:ext>
              </a:extLst>
            </p:cNvPr>
            <p:cNvSpPr/>
            <p:nvPr/>
          </p:nvSpPr>
          <p:spPr>
            <a:xfrm>
              <a:off x="1611076" y="1594487"/>
              <a:ext cx="119634" cy="218040"/>
            </a:xfrm>
            <a:prstGeom prst="rt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endParaRPr>
            </a:p>
          </p:txBody>
        </p:sp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ACBF0FC5-E322-F205-9C53-20682674F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66" y="1270926"/>
            <a:ext cx="569829" cy="575891"/>
          </a:xfrm>
          <a:prstGeom prst="rect">
            <a:avLst/>
          </a:prstGeom>
        </p:spPr>
      </p:pic>
      <p:sp>
        <p:nvSpPr>
          <p:cNvPr id="69" name="Shape 17">
            <a:extLst>
              <a:ext uri="{FF2B5EF4-FFF2-40B4-BE49-F238E27FC236}">
                <a16:creationId xmlns:a16="http://schemas.microsoft.com/office/drawing/2014/main" id="{3CE3B81D-4D90-95DF-73FB-A1AA561FA24C}"/>
              </a:ext>
            </a:extLst>
          </p:cNvPr>
          <p:cNvSpPr/>
          <p:nvPr/>
        </p:nvSpPr>
        <p:spPr>
          <a:xfrm>
            <a:off x="1430212" y="1225025"/>
            <a:ext cx="0" cy="621792"/>
          </a:xfrm>
          <a:prstGeom prst="line">
            <a:avLst/>
          </a:prstGeom>
          <a:noFill/>
          <a:ln w="15240">
            <a:solidFill>
              <a:srgbClr val="B7CCE4"/>
            </a:solidFill>
            <a:prstDash val="solid"/>
            <a:headEnd type="none"/>
            <a:tailEnd type="none"/>
          </a:ln>
        </p:spPr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0762D691-AC6C-FB14-243C-B7D00B9DFC03}"/>
              </a:ext>
            </a:extLst>
          </p:cNvPr>
          <p:cNvSpPr/>
          <p:nvPr/>
        </p:nvSpPr>
        <p:spPr>
          <a:xfrm>
            <a:off x="1621888" y="1252457"/>
            <a:ext cx="6627349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 Studio는 비정형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분석하여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기반의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요구사항을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도출하고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· 추적성을 확보한 SWE.1/SWE.6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산출물로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2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FE43046-9FBD-D0A1-A79A-1BC34D8DD1A9}"/>
              </a:ext>
            </a:extLst>
          </p:cNvPr>
          <p:cNvSpPr/>
          <p:nvPr/>
        </p:nvSpPr>
        <p:spPr>
          <a:xfrm>
            <a:off x="418914" y="3960323"/>
            <a:ext cx="8318802" cy="250795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0661EFC-8887-B8AA-D0F8-462F702F804A}"/>
              </a:ext>
            </a:extLst>
          </p:cNvPr>
          <p:cNvGrpSpPr/>
          <p:nvPr/>
        </p:nvGrpSpPr>
        <p:grpSpPr>
          <a:xfrm>
            <a:off x="412599" y="3742282"/>
            <a:ext cx="1200783" cy="307776"/>
            <a:chOff x="529927" y="1594487"/>
            <a:chExt cx="1200783" cy="307776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2E9364C8-A939-9A78-2622-D4EBFDFDF13A}"/>
                </a:ext>
              </a:extLst>
            </p:cNvPr>
            <p:cNvSpPr/>
            <p:nvPr/>
          </p:nvSpPr>
          <p:spPr>
            <a:xfrm>
              <a:off x="529927" y="1594932"/>
              <a:ext cx="1080000" cy="307331"/>
            </a:xfrm>
            <a:prstGeom prst="rect">
              <a:avLst/>
            </a:prstGeom>
            <a:solidFill>
              <a:srgbClr val="244F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구조 요약</a:t>
              </a:r>
            </a:p>
          </p:txBody>
        </p:sp>
        <p:sp>
          <p:nvSpPr>
            <p:cNvPr id="79" name="직각 삼각형 78">
              <a:extLst>
                <a:ext uri="{FF2B5EF4-FFF2-40B4-BE49-F238E27FC236}">
                  <a16:creationId xmlns:a16="http://schemas.microsoft.com/office/drawing/2014/main" id="{296D9F5C-98A9-CFEB-E0D3-C81D3CA8383A}"/>
                </a:ext>
              </a:extLst>
            </p:cNvPr>
            <p:cNvSpPr/>
            <p:nvPr/>
          </p:nvSpPr>
          <p:spPr>
            <a:xfrm>
              <a:off x="1611076" y="1594487"/>
              <a:ext cx="119634" cy="218040"/>
            </a:xfrm>
            <a:prstGeom prst="rt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endParaRPr>
            </a:p>
          </p:txBody>
        </p:sp>
      </p:grpSp>
      <p:pic>
        <p:nvPicPr>
          <p:cNvPr id="81" name="그림 80">
            <a:extLst>
              <a:ext uri="{FF2B5EF4-FFF2-40B4-BE49-F238E27FC236}">
                <a16:creationId xmlns:a16="http://schemas.microsoft.com/office/drawing/2014/main" id="{EA57833C-8287-CD18-27BA-FD756B5AD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12" y="2043869"/>
            <a:ext cx="7923600" cy="1316401"/>
          </a:xfrm>
          <a:prstGeom prst="rect">
            <a:avLst/>
          </a:prstGeom>
        </p:spPr>
      </p:pic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CD752B2B-453E-7C57-A4B5-67DA890CA060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C6D0F0-FA31-2688-70ED-74C0CEB3EB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9" b="14308"/>
          <a:stretch>
            <a:fillRect/>
          </a:stretch>
        </p:blipFill>
        <p:spPr>
          <a:xfrm>
            <a:off x="610012" y="4177918"/>
            <a:ext cx="7923600" cy="219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59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AB793-3382-8E91-D652-B5186041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66E25-B3BC-670C-020E-EC059F40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주요 </a:t>
            </a:r>
            <a:r>
              <a:rPr kumimoji="1" lang="en-US" altLang="ko-KR" b="1" dirty="0">
                <a:latin typeface="+mj-ea"/>
              </a:rPr>
              <a:t>GUI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779BE798-45BD-4505-5405-7D70EB64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5</a:t>
            </a:fld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5611C-5043-4A81-3142-2B798E38472D}"/>
              </a:ext>
            </a:extLst>
          </p:cNvPr>
          <p:cNvSpPr txBox="1">
            <a:spLocks noChangeAspect="1"/>
          </p:cNvSpPr>
          <p:nvPr/>
        </p:nvSpPr>
        <p:spPr>
          <a:xfrm>
            <a:off x="2000807" y="6246632"/>
            <a:ext cx="5166000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 defTabSz="914400" latinLnBrk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/>
            </a:pP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&lt; Requirement Studio &gt;</a:t>
            </a:r>
            <a:endParaRPr lang="en-US" altLang="ko-KR" sz="12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7481E78-42C7-902F-5A5C-560C1F877843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CCBCB5-1793-7D77-EE57-311453A57EB4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5161991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Requirement Studio </a:t>
            </a:r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실행 시 </a:t>
            </a:r>
            <a:r>
              <a:rPr lang="en-US" altLang="ko-KR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GUI </a:t>
            </a:r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변경 예정</a:t>
            </a:r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, V0.44 </a:t>
            </a:r>
            <a:r>
              <a:rPr lang="ko-KR" altLang="en-US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기준</a:t>
            </a:r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)</a:t>
            </a:r>
            <a:endParaRPr lang="ko-KR" altLang="en-US" sz="1200" dirty="0">
              <a:solidFill>
                <a:schemeClr val="tx2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517B98-EE15-19A0-B5E5-6141855884D9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D077CE-9388-305E-51F7-D716AE742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404" y="1075423"/>
            <a:ext cx="7143193" cy="519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7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451E-1D41-9E32-F340-8F36686F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364F6-9880-B331-C92D-1B9EAA8E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주요 </a:t>
            </a:r>
            <a:r>
              <a:rPr kumimoji="1" lang="en-US" altLang="ko-KR" b="1" dirty="0">
                <a:latin typeface="+mj-ea"/>
              </a:rPr>
              <a:t>GUI : Requirement Studio </a:t>
            </a:r>
            <a:r>
              <a:rPr kumimoji="1" lang="ko-KR" altLang="en-US" b="1" dirty="0">
                <a:latin typeface="+mj-ea"/>
              </a:rPr>
              <a:t>사용 예</a:t>
            </a:r>
            <a:r>
              <a:rPr kumimoji="1" lang="en-US" altLang="ko-KR" b="1" dirty="0">
                <a:latin typeface="+mj-ea"/>
              </a:rPr>
              <a:t> 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D21D14AF-B963-F8E4-2D53-4C0E5E38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6</a:t>
            </a:fld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ABA99-1C93-7184-49FD-08A5C1331AF5}"/>
              </a:ext>
            </a:extLst>
          </p:cNvPr>
          <p:cNvSpPr txBox="1">
            <a:spLocks noChangeAspect="1"/>
          </p:cNvSpPr>
          <p:nvPr/>
        </p:nvSpPr>
        <p:spPr>
          <a:xfrm>
            <a:off x="581280" y="4397925"/>
            <a:ext cx="3945358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 defTabSz="914400" latinLnBrk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/>
            </a:pP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&lt; </a:t>
            </a:r>
            <a:r>
              <a:rPr lang="ko-KR" altLang="en-US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파일 입력 시</a:t>
            </a: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, </a:t>
            </a:r>
            <a:r>
              <a:rPr lang="ko-KR" altLang="en-US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분석 및 결과 도출 </a:t>
            </a: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&gt;</a:t>
            </a:r>
            <a:endParaRPr lang="en-US" altLang="ko-KR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64A89-F5C8-38C6-2AB5-874F762787CC}"/>
              </a:ext>
            </a:extLst>
          </p:cNvPr>
          <p:cNvSpPr txBox="1">
            <a:spLocks noChangeAspect="1"/>
          </p:cNvSpPr>
          <p:nvPr/>
        </p:nvSpPr>
        <p:spPr>
          <a:xfrm>
            <a:off x="5192288" y="4397925"/>
            <a:ext cx="3599999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 defTabSz="914400" latinLnBrk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/>
            </a:pP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&lt; Requirement Studio </a:t>
            </a:r>
            <a:r>
              <a:rPr lang="ko-KR" altLang="en-US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분석 결과 예</a:t>
            </a: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 &gt;</a:t>
            </a:r>
            <a:endParaRPr lang="en-US" altLang="ko-KR" sz="1200" dirty="0"/>
          </a:p>
        </p:txBody>
      </p:sp>
      <p:sp>
        <p:nvSpPr>
          <p:cNvPr id="13" name="사각형: 둥근 모서리 132">
            <a:extLst>
              <a:ext uri="{FF2B5EF4-FFF2-40B4-BE49-F238E27FC236}">
                <a16:creationId xmlns:a16="http://schemas.microsoft.com/office/drawing/2014/main" id="{059B1242-7ABA-2BE7-DD8D-638BE68F04C3}"/>
              </a:ext>
            </a:extLst>
          </p:cNvPr>
          <p:cNvSpPr/>
          <p:nvPr/>
        </p:nvSpPr>
        <p:spPr>
          <a:xfrm flipH="1">
            <a:off x="463405" y="5046371"/>
            <a:ext cx="2585463" cy="255423"/>
          </a:xfrm>
          <a:prstGeom prst="roundRect">
            <a:avLst>
              <a:gd name="adj" fmla="val 46745"/>
            </a:avLst>
          </a:prstGeom>
          <a:solidFill>
            <a:srgbClr val="244FA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737182"/>
            <a:r>
              <a:rPr lang="ko-KR" altLang="en-US" sz="1037" dirty="0">
                <a:solidFill>
                  <a:schemeClr val="bg1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작동 개발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E4DA4A-7F56-2EA1-7DC3-F42A791164F8}"/>
              </a:ext>
            </a:extLst>
          </p:cNvPr>
          <p:cNvSpPr txBox="1"/>
          <p:nvPr/>
        </p:nvSpPr>
        <p:spPr>
          <a:xfrm>
            <a:off x="437403" y="5416843"/>
            <a:ext cx="8265828" cy="690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 marL="138222" indent="-138222">
              <a:lnSpc>
                <a:spcPct val="125000"/>
              </a:lnSpc>
              <a:buFontTx/>
              <a:buChar char="-"/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별도의 학습 없이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LLM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의 입출력을 사용하여 로컬 ↔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LLM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과의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API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송수신을 통해 파일생성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&amp;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진행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38222" indent="-138222">
              <a:lnSpc>
                <a:spcPct val="125000"/>
              </a:lnSpc>
              <a:buFontTx/>
              <a:buChar char="-"/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출력파일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(SWE.1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및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SWE.6)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에 대한 양식을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ASPICE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기준으로 작성 후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해당 파일을 기준으로 제시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21B49C0-DC3A-5A75-E3CC-5189F1BF910D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98855D-4CB1-791D-F65D-214750C177B8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4586512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Requirement Studio </a:t>
            </a:r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에 문서 파일 입력 후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0212B7-8DAE-16A3-F6C3-D8C242E2383C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B1A8FA-CF40-87B0-8BB8-EC0AB0E69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22" y="1279559"/>
            <a:ext cx="4172275" cy="30480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6994D9B-7A5D-FE96-118B-87C13DF4F9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4"/>
          <a:stretch>
            <a:fillRect/>
          </a:stretch>
        </p:blipFill>
        <p:spPr>
          <a:xfrm>
            <a:off x="5146765" y="1279560"/>
            <a:ext cx="3552926" cy="304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8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CE966-AA51-4E27-1146-AAAC2F08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A56D5-6083-CADB-8553-B41EDB7D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향후 일정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116F6F81-9713-ED78-0254-10655419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7</a:t>
            </a:fld>
            <a:endParaRPr kumimoji="1" lang="x-none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7F63D46-C83F-3D63-E6CE-92A108C188AE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EF4C62-69CB-7DD1-A3D0-EDC5CA00C537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1451038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개발 일정 요약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3959814-BA95-2861-E012-41CB6F0469C1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CAB0B4-B536-912D-63B7-BAFF5815F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4"/>
          <a:stretch>
            <a:fillRect/>
          </a:stretch>
        </p:blipFill>
        <p:spPr>
          <a:xfrm>
            <a:off x="484742" y="1095225"/>
            <a:ext cx="8174516" cy="300171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A51F746-49B9-41B1-5F33-B8FA2211E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406409"/>
              </p:ext>
            </p:extLst>
          </p:nvPr>
        </p:nvGraphicFramePr>
        <p:xfrm>
          <a:off x="851508" y="4306990"/>
          <a:ext cx="7609446" cy="18976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2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7243">
                  <a:extLst>
                    <a:ext uri="{9D8B030D-6E8A-4147-A177-3AD203B41FA5}">
                      <a16:colId xmlns:a16="http://schemas.microsoft.com/office/drawing/2014/main" val="1949523038"/>
                    </a:ext>
                  </a:extLst>
                </a:gridCol>
              </a:tblGrid>
              <a:tr h="33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sz="14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44847" marR="44847" marT="22423" marB="2242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solidFill>
                            <a:schemeClr val="bg1"/>
                          </a:solidFill>
                        </a:rPr>
                        <a:t>주요 현황 / 향후 계획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</a:rPr>
                        <a:t>내용 요약</a:t>
                      </a:r>
                      <a:endParaRPr lang="ko-KR" sz="1400" dirty="0">
                        <a:solidFill>
                          <a:schemeClr val="bg1"/>
                        </a:solidFill>
                      </a:endParaRPr>
                    </a:p>
                  </a:txBody>
                  <a:tcPr marL="44847" marR="44847" marT="22423" marB="2242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 </a:t>
                      </a:r>
                      <a:r>
                        <a:rPr lang="ko-KR" sz="1400" dirty="0"/>
                        <a:t>GUI 개발</a:t>
                      </a:r>
                    </a:p>
                  </a:txBody>
                  <a:tcPr marL="44847" marR="44847" marT="22423" marB="2242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주요 UI 개발 완료 → 실사용 검증 및 UX 보완</a:t>
                      </a:r>
                    </a:p>
                  </a:txBody>
                  <a:tcPr marL="44847" marR="44847" marT="22423" marB="2242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747563"/>
                  </a:ext>
                </a:extLst>
              </a:tr>
              <a:tr h="391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 </a:t>
                      </a:r>
                      <a:r>
                        <a:rPr lang="ko-KR" sz="1400" dirty="0"/>
                        <a:t>양식 설정 개발</a:t>
                      </a:r>
                    </a:p>
                  </a:txBody>
                  <a:tcPr marL="44847" marR="44847" marT="22423" marB="2242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SWE.1/SWE.6 양식 확정 → 세부 출력 품질 보정</a:t>
                      </a:r>
                    </a:p>
                  </a:txBody>
                  <a:tcPr marL="44847" marR="44847" marT="22423" marB="2242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201718"/>
                  </a:ext>
                </a:extLst>
              </a:tr>
              <a:tr h="391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 </a:t>
                      </a:r>
                      <a:r>
                        <a:rPr lang="ko-KR" sz="1400" dirty="0"/>
                        <a:t>분석 기능 고도화</a:t>
                      </a:r>
                    </a:p>
                  </a:txBody>
                  <a:tcPr marL="44847" marR="44847" marT="22423" marB="2242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기본 분석 Pipeline 구축 → </a:t>
                      </a:r>
                      <a:r>
                        <a:rPr lang="ko-KR" sz="1400" dirty="0" err="1"/>
                        <a:t>분석·Mapping</a:t>
                      </a:r>
                      <a:r>
                        <a:rPr lang="ko-KR" sz="1400" dirty="0"/>
                        <a:t> 정확도 향상</a:t>
                      </a:r>
                    </a:p>
                  </a:txBody>
                  <a:tcPr marL="44847" marR="44847" marT="22423" marB="2242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404555"/>
                  </a:ext>
                </a:extLst>
              </a:tr>
              <a:tr h="391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 </a:t>
                      </a:r>
                      <a:r>
                        <a:rPr lang="ko-KR" sz="1400" dirty="0"/>
                        <a:t>개선 및 배포</a:t>
                      </a:r>
                    </a:p>
                  </a:txBody>
                  <a:tcPr marL="44847" marR="44847" marT="22423" marB="2242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V0.44 </a:t>
                      </a:r>
                      <a:r>
                        <a:rPr lang="ko-KR" sz="1400" dirty="0" err="1"/>
                        <a:t>개발본</a:t>
                      </a:r>
                      <a:r>
                        <a:rPr lang="ko-KR" sz="1400" dirty="0"/>
                        <a:t> 구축 → </a:t>
                      </a:r>
                      <a:r>
                        <a:rPr lang="ko-KR" sz="1400" dirty="0" err="1"/>
                        <a:t>Regression</a:t>
                      </a:r>
                      <a:r>
                        <a:rPr lang="ko-KR" sz="1400" dirty="0"/>
                        <a:t> 및 차기 버전 배포</a:t>
                      </a:r>
                    </a:p>
                  </a:txBody>
                  <a:tcPr marL="44847" marR="44847" marT="22423" marB="2242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809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70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CEC6-8B56-8C92-6D7F-5A61F1A0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2FC9C-C80C-F940-7FCE-BA35E261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향후 발전 과제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465FFA62-BFBE-2136-2A4B-0F6DABBE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8</a:t>
            </a:fld>
            <a:endParaRPr kumimoji="1" lang="x-none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1A4A598-F72C-BF2F-9180-AE30D68E9BDD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3E4047-943C-C8CC-2389-5F78FD54C36D}"/>
              </a:ext>
            </a:extLst>
          </p:cNvPr>
          <p:cNvSpPr txBox="1"/>
          <p:nvPr/>
        </p:nvSpPr>
        <p:spPr>
          <a:xfrm>
            <a:off x="385011" y="1037111"/>
            <a:ext cx="8154168" cy="2075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① 처음 설치 시 환경 이슈 등 타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PC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환경에서 예기치 않은 오류 발생 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   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└ 여러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PC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환경 수집 및 개선방안 도출 필요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②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의도하지 않은 </a:t>
            </a:r>
            <a:r>
              <a:rPr lang="ko-KR" altLang="en-US" sz="1400" b="0" dirty="0" err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헐루시네이션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   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└ 소프트웨어 </a:t>
            </a:r>
            <a:r>
              <a:rPr lang="ko-KR" altLang="en-US" sz="1400" b="0" dirty="0" err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컨스티튜션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.md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파일 작성 후 효과 측정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③ 각기 다른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LLM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환경 제약사항 맞춤형 대응 필요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   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└ 보안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/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특정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API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연결 셋업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/ </a:t>
            </a:r>
            <a:r>
              <a:rPr lang="ko-KR" altLang="en-US" sz="1400" b="0" dirty="0" err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사용불가능한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라이브러리 대응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69A3E4-A694-224B-0DE6-7079130ECF0D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2135521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예상 문제 및 대처 방안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9111D7-2A68-60A2-F5E5-566AC6B0400C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4BFCD3-97AA-0454-EE73-A10815669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51" y="3271260"/>
            <a:ext cx="8429880" cy="316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3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1F0E0-ACF2-279B-311B-415B2EAD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97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슈어소프트테크">
      <a:dk1>
        <a:sysClr val="windowText" lastClr="000000"/>
      </a:dk1>
      <a:lt1>
        <a:sysClr val="window" lastClr="FFFFFF"/>
      </a:lt1>
      <a:dk2>
        <a:srgbClr val="002878"/>
      </a:dk2>
      <a:lt2>
        <a:srgbClr val="E7E6E6"/>
      </a:lt2>
      <a:accent1>
        <a:srgbClr val="406FD8"/>
      </a:accent1>
      <a:accent2>
        <a:srgbClr val="3E8853"/>
      </a:accent2>
      <a:accent3>
        <a:srgbClr val="FFCA08"/>
      </a:accent3>
      <a:accent4>
        <a:srgbClr val="FF8327"/>
      </a:accent4>
      <a:accent5>
        <a:srgbClr val="D32619"/>
      </a:accent5>
      <a:accent6>
        <a:srgbClr val="510CE6"/>
      </a:accent6>
      <a:hlink>
        <a:srgbClr val="467886"/>
      </a:hlink>
      <a:folHlink>
        <a:srgbClr val="96607D"/>
      </a:folHlink>
    </a:clrScheme>
    <a:fontScheme name="사용자 지정 7">
      <a:majorFont>
        <a:latin typeface="나눔스퀘어 네오 OTF Heavy"/>
        <a:ea typeface="나눔스퀘어 네오 OTF Heavy"/>
        <a:cs typeface=""/>
      </a:majorFont>
      <a:minorFont>
        <a:latin typeface="나눔스퀘어 네오 OTF Bold"/>
        <a:ea typeface="나눔스퀘어 네오 OTF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spcAft>
            <a:spcPts val="600"/>
          </a:spcAft>
          <a:defRPr sz="1000" dirty="0" smtClean="0">
            <a:latin typeface="나눔스퀘어 네오 OTF Regular" panose="00000500000000000000" pitchFamily="50" charset="-127"/>
            <a:ea typeface="나눔스퀘어 네오 OTF Regular" panose="00000500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2059</TotalTime>
  <Words>393</Words>
  <Application>Microsoft Office PowerPoint</Application>
  <PresentationFormat>화면 슬라이드 쇼(4:3)</PresentationFormat>
  <Paragraphs>72</Paragraphs>
  <Slides>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나눔스퀘어 네오 OTF Bold</vt:lpstr>
      <vt:lpstr>나눔스퀘어 네오 OTF Heavy</vt:lpstr>
      <vt:lpstr>Aptos</vt:lpstr>
      <vt:lpstr>맑은 고딕</vt:lpstr>
      <vt:lpstr>Wingdings</vt:lpstr>
      <vt:lpstr>나눔스퀘어 네오 OTF Light</vt:lpstr>
      <vt:lpstr>나눔스퀘어 네오 OTF ExtraBold</vt:lpstr>
      <vt:lpstr>나눔스퀘어 네오 OTF Regular</vt:lpstr>
      <vt:lpstr>Arial</vt:lpstr>
      <vt:lpstr>맑은 고딕</vt:lpstr>
      <vt:lpstr>Office 테마</vt:lpstr>
      <vt:lpstr>요구사항 추출 기능 개발 (Requirement Studio)</vt:lpstr>
      <vt:lpstr>PowerPoint 프레젠테이션</vt:lpstr>
      <vt:lpstr>개요</vt:lpstr>
      <vt:lpstr>정의 및 구조 요약</vt:lpstr>
      <vt:lpstr>주요 GUI</vt:lpstr>
      <vt:lpstr>주요 GUI : Requirement Studio 사용 예 </vt:lpstr>
      <vt:lpstr>향후 일정</vt:lpstr>
      <vt:lpstr>향후 발전 과제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fivefour</dc:creator>
  <cp:lastModifiedBy>dongcheon park</cp:lastModifiedBy>
  <cp:revision>107</cp:revision>
  <dcterms:created xsi:type="dcterms:W3CDTF">2024-01-19T03:00:47Z</dcterms:created>
  <dcterms:modified xsi:type="dcterms:W3CDTF">2026-09-28T01:05:27Z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883e49-c40c-4c70-af6e-4047d87bba49_Enabled">
    <vt:lpwstr>true</vt:lpwstr>
  </property>
  <property fmtid="{D5CDD505-2E9C-101B-9397-08002B2CF9AE}" pid="3" name="MSIP_Label_84883e49-c40c-4c70-af6e-4047d87bba49_SetDate">
    <vt:lpwstr>2026-04-01T04:34:37Z</vt:lpwstr>
  </property>
  <property fmtid="{D5CDD505-2E9C-101B-9397-08002B2CF9AE}" pid="4" name="MSIP_Label_84883e49-c40c-4c70-af6e-4047d87bba49_Method">
    <vt:lpwstr>Privileged</vt:lpwstr>
  </property>
  <property fmtid="{D5CDD505-2E9C-101B-9397-08002B2CF9AE}" pid="5" name="MSIP_Label_84883e49-c40c-4c70-af6e-4047d87bba49_Name">
    <vt:lpwstr>평문 (AnyUser)</vt:lpwstr>
  </property>
  <property fmtid="{D5CDD505-2E9C-101B-9397-08002B2CF9AE}" pid="6" name="MSIP_Label_84883e49-c40c-4c70-af6e-4047d87bba49_SiteId">
    <vt:lpwstr>f85ca5f1-aa23-4252-a83a-443d333b1fe7</vt:lpwstr>
  </property>
  <property fmtid="{D5CDD505-2E9C-101B-9397-08002B2CF9AE}" pid="7" name="MSIP_Label_84883e49-c40c-4c70-af6e-4047d87bba49_ActionId">
    <vt:lpwstr>68623d0f-e62c-4a86-b466-759cac8e4863</vt:lpwstr>
  </property>
  <property fmtid="{D5CDD505-2E9C-101B-9397-08002B2CF9AE}" pid="8" name="MSIP_Label_84883e49-c40c-4c70-af6e-4047d87bba49_ContentBits">
    <vt:lpwstr>2</vt:lpwstr>
  </property>
  <property fmtid="{D5CDD505-2E9C-101B-9397-08002B2CF9AE}" pid="9" name="MSIP_Label_84883e49-c40c-4c70-af6e-4047d87bba49_Tag">
    <vt:lpwstr>10, 0, 1, 1</vt:lpwstr>
  </property>
  <property fmtid="{D5CDD505-2E9C-101B-9397-08002B2CF9AE}" pid="10" name="ClassificationContentMarkingFooterLocations">
    <vt:lpwstr>Office 테마:9</vt:lpwstr>
  </property>
  <property fmtid="{D5CDD505-2E9C-101B-9397-08002B2CF9AE}" pid="11" name="ClassificationContentMarkingFooterText">
    <vt:lpwstr>본 문서는 현대자동차·기아의 정보자산으로 귀사와의 비밀유지계약 및 제반법률에 따라 법적 보호를 받습니다.</vt:lpwstr>
  </property>
</Properties>
</file>